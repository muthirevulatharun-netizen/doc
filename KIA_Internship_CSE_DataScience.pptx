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3" name="Shape 1"/>
          <p:cNvSpPr/>
          <p:nvPr/>
        </p:nvSpPr>
        <p:spPr>
          <a:xfrm>
            <a:off x="173736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1" name="Shape 9"/>
          <p:cNvSpPr/>
          <p:nvPr/>
        </p:nvSpPr>
        <p:spPr>
          <a:xfrm>
            <a:off x="1124712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2B4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914400"/>
            <a:ext cx="1051560" cy="105156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4" name="Image 0" descr="/home/claude/ppt/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774" y="1166774"/>
            <a:ext cx="546811" cy="54681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22860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DATA-DRIVEN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MANUFACTURING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0080" y="4114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9FB3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Computer Science &amp; Data Science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9FB3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 on Industrial IoT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66344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A93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INTERNSHIP REPORT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663440" y="141732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Robotic Error Detection &amp; Sensor</a:t>
            </a:r>
            <a:endParaRPr lang="en-US" sz="3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Data Systems — MQ4i</a:t>
            </a:r>
            <a:endParaRPr lang="en-US" sz="3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Production, KIA India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4663440" y="34290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D3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real-time sensor data, PLC signal streams, and HMI diagnostics power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D3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fault detection and predictive maintenance in a smart factory.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663440" y="4434840"/>
            <a:ext cx="6309360" cy="0"/>
          </a:xfrm>
          <a:prstGeom prst="line">
            <a:avLst/>
          </a:prstGeom>
          <a:noFill/>
          <a:ln w="12700">
            <a:solidFill>
              <a:srgbClr val="3A517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4709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7B8A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SUBMITTED BY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663440" y="4965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Muthirevula Tharun Reddy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863840" y="4709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7B8A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ROLL NO.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863840" y="4965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24691A32S8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663440" y="5394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7B8A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663440" y="5650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CSE (Data Science)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863840" y="5394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7B8A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INSTITUTION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863840" y="5650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Madanapalle Institute of Technology &amp; Science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B8A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INTERNSHIP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Software Meets the Shop Floor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KIA India Pvt. Ltd. — Body Shop Department, Anantapur Plant | 21 May – 29 Jun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514600"/>
            <a:ext cx="822960" cy="8229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" name="Image 0" descr="/home/claude/ppt/icon_fac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630" y="271211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5204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Environment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fully automated Body Shop where hundreds of robots weld and assemble the MQ4i vehicle body, coordinated by PLCs and sensor networks.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1488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43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514600"/>
            <a:ext cx="822960" cy="8229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" name="Image 1" descr="/home/claude/ppt/icon_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670" y="271211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5204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Data Angle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09160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weld cycle, sensor read, and fault event generates a signal — my focus was tracing that data from sensor to PLC to human-readable diagnostics.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43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2514600"/>
            <a:ext cx="822960" cy="8229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7" name="Image 2" descr="/home/claude/ppt/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5710" y="271211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35204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My Role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58200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Monitored live sensor/PLC data streams, logged recurring fault patterns, and supported engineers in root-cause analysis using HMI diagnostic screens.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B8A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Framed as a Data &amp; Systems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mechanical activity in the Body Shop had a data-collection or diagnostic-software counterpart: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7" name="Image 0" descr="/home/claude/ppt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41767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240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Capture real-time sensor streams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how Zig sensors emit continuous position data into the PLC network.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20574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286000"/>
            <a:ext cx="548640" cy="54864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2" name="Image 1" descr="/home/claude/ppt/icon_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394" y="241767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2240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Trace signal flow end-to-end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617720" y="2971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data from sensor → PLC → HMI → operator, and where it can break.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20574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/>
        </p:spPr>
      </p:sp>
      <p:sp>
        <p:nvSpPr>
          <p:cNvPr id="16" name="Shape 12"/>
          <p:cNvSpPr/>
          <p:nvPr/>
        </p:nvSpPr>
        <p:spPr>
          <a:xfrm>
            <a:off x="8366760" y="2286000"/>
            <a:ext cx="548640" cy="54864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7" name="Image 2" descr="/home/claude/ppt/icon_b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434" y="24176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2240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Log &amp; classify fault events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366760" y="2971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recurring error types as structured data for pattern recognition.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1605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/>
        </p:spPr>
      </p:sp>
      <p:sp>
        <p:nvSpPr>
          <p:cNvPr id="21" name="Shape 16"/>
          <p:cNvSpPr/>
          <p:nvPr/>
        </p:nvSpPr>
        <p:spPr>
          <a:xfrm>
            <a:off x="868680" y="4389120"/>
            <a:ext cx="548640" cy="54864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22" name="Image 3" descr="/home/claude/ppt/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54" y="452079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3434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Analyze downtime metrics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68680" y="5074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how sensor/communication faults translate into production-loss data.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89120" y="41605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/>
        </p:spPr>
      </p:sp>
      <p:sp>
        <p:nvSpPr>
          <p:cNvPr id="26" name="Shape 20"/>
          <p:cNvSpPr/>
          <p:nvPr/>
        </p:nvSpPr>
        <p:spPr>
          <a:xfrm>
            <a:off x="4617720" y="4389120"/>
            <a:ext cx="548640" cy="54864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27" name="Image 4" descr="/home/claude/ppt/icon_desk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394" y="4520794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03520" y="43434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Read HMI diagnostic dashboards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617720" y="5074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 real-time system-health visualizations used by engineers.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8160" y="41605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/>
        </p:spPr>
      </p:sp>
      <p:sp>
        <p:nvSpPr>
          <p:cNvPr id="31" name="Shape 24"/>
          <p:cNvSpPr/>
          <p:nvPr/>
        </p:nvSpPr>
        <p:spPr>
          <a:xfrm>
            <a:off x="8366760" y="4389120"/>
            <a:ext cx="548640" cy="54864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32" name="Image 5" descr="/home/claude/ppt/icon_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8434" y="4520794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52560" y="43434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Apply safe data-handling practice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366760" y="5074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protocols for observing live industrial control systems safely.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INDUSTRY 4.0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Manufacturing Is Now a Data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3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automobile plants like KIA's Anantapur facility run on the same principles as any large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3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system: sensors, controllers, and interfaces exchanging structured data in real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6588" y="283464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142B4F"/>
          </a:solidFill>
          <a:ln w="12700">
            <a:solidFill>
              <a:srgbClr val="2A42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9548" y="3154680"/>
            <a:ext cx="731520" cy="73152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7" name="Image 0" descr="/home/claude/ppt/icon_sen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5112" y="333024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6588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Sensors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23748" y="4434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B9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Zig &amp; proximity sensors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B9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raw signal data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964028" y="3657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66948" y="283464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142B4F"/>
          </a:solidFill>
          <a:ln w="12700">
            <a:solidFill>
              <a:srgbClr val="2A42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89908" y="3154680"/>
            <a:ext cx="731520" cy="73152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3" name="Image 1" descr="/home/claude/ppt/icon_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472" y="333024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66948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PLC Network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604108" y="4434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B9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Controllers process and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B9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 signals in real time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844388" y="3657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347308" y="283464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142B4F"/>
          </a:solidFill>
          <a:ln w="12700">
            <a:solidFill>
              <a:srgbClr val="2A425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70268" y="3154680"/>
            <a:ext cx="731520" cy="73152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9" name="Image 2" descr="/home/claude/ppt/icon_desk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832" y="3330245"/>
            <a:ext cx="380390" cy="38039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47308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HMI Layer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484468" y="4434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B9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Dashboards visualize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B9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for operators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724748" y="3657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9227668" y="283464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142B4F"/>
          </a:solidFill>
          <a:ln w="12700">
            <a:solidFill>
              <a:srgbClr val="2A425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0050628" y="31546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5" name="Image 3" descr="/home/claude/ppt/icon_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192" y="3330245"/>
            <a:ext cx="380390" cy="38039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27668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Analytics / IIoT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364828" y="4434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B9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layer: cloud logging,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B9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ML-based fault prediction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B8A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SENSOR DATA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Zig Sensors: The Raw Data Source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Zig sensors continuously detect whether a vehicle body has reached the correct position before welding begins. Each detection is effectively a binary or positional data point streamed to the PLC — the digital foundation everything downstream depends 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913632"/>
            <a:ext cx="109728" cy="109728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7673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 signal → PLC authorizes robot to weld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4370832"/>
            <a:ext cx="109728" cy="109728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2245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/ wrong signal → robot halts automatically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828032"/>
            <a:ext cx="109728" cy="109728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6817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event is logged for later fault analysis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40880" y="1554480"/>
            <a:ext cx="4480560" cy="4206240"/>
          </a:xfrm>
          <a:prstGeom prst="roundRect">
            <a:avLst>
              <a:gd name="adj" fmla="val 3043"/>
            </a:avLst>
          </a:prstGeom>
          <a:solidFill>
            <a:srgbClr val="0B1F3A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0" y="1920240"/>
            <a:ext cx="1005840" cy="100584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3" name="Image 0" descr="/home/claude/ppt/icon_sen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2" y="2161642"/>
            <a:ext cx="523037" cy="52303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040880" y="3108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2A93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SENSOR → PLC SIGNAL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598664" y="4480560"/>
            <a:ext cx="256032" cy="36576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6" name="Shape 13"/>
          <p:cNvSpPr/>
          <p:nvPr/>
        </p:nvSpPr>
        <p:spPr>
          <a:xfrm>
            <a:off x="7909560" y="4023360"/>
            <a:ext cx="256032" cy="822960"/>
          </a:xfrm>
          <a:prstGeom prst="rect">
            <a:avLst/>
          </a:prstGeom>
          <a:solidFill>
            <a:srgbClr val="17B8A6"/>
          </a:solidFill>
          <a:ln/>
        </p:spPr>
      </p:sp>
      <p:sp>
        <p:nvSpPr>
          <p:cNvPr id="17" name="Shape 14"/>
          <p:cNvSpPr/>
          <p:nvPr/>
        </p:nvSpPr>
        <p:spPr>
          <a:xfrm>
            <a:off x="8220456" y="4389120"/>
            <a:ext cx="256032" cy="457200"/>
          </a:xfrm>
          <a:prstGeom prst="rect">
            <a:avLst/>
          </a:prstGeom>
          <a:solidFill>
            <a:srgbClr val="17B8A6"/>
          </a:solidFill>
          <a:ln/>
        </p:spPr>
      </p:sp>
      <p:sp>
        <p:nvSpPr>
          <p:cNvPr id="18" name="Shape 15"/>
          <p:cNvSpPr/>
          <p:nvPr/>
        </p:nvSpPr>
        <p:spPr>
          <a:xfrm>
            <a:off x="8531352" y="3840480"/>
            <a:ext cx="256032" cy="100584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9" name="Shape 16"/>
          <p:cNvSpPr/>
          <p:nvPr/>
        </p:nvSpPr>
        <p:spPr>
          <a:xfrm>
            <a:off x="8842248" y="4206240"/>
            <a:ext cx="256032" cy="640080"/>
          </a:xfrm>
          <a:prstGeom prst="rect">
            <a:avLst/>
          </a:prstGeom>
          <a:solidFill>
            <a:srgbClr val="17B8A6"/>
          </a:solidFill>
          <a:ln/>
        </p:spPr>
      </p:sp>
      <p:sp>
        <p:nvSpPr>
          <p:cNvPr id="20" name="Shape 17"/>
          <p:cNvSpPr/>
          <p:nvPr/>
        </p:nvSpPr>
        <p:spPr>
          <a:xfrm>
            <a:off x="9153144" y="3657600"/>
            <a:ext cx="256032" cy="1188720"/>
          </a:xfrm>
          <a:prstGeom prst="rect">
            <a:avLst/>
          </a:prstGeom>
          <a:solidFill>
            <a:srgbClr val="17B8A6"/>
          </a:solidFill>
          <a:ln/>
        </p:spPr>
      </p:sp>
      <p:sp>
        <p:nvSpPr>
          <p:cNvPr id="21" name="Shape 18"/>
          <p:cNvSpPr/>
          <p:nvPr/>
        </p:nvSpPr>
        <p:spPr>
          <a:xfrm>
            <a:off x="9464040" y="4297680"/>
            <a:ext cx="256032" cy="54864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2" name="Shape 19"/>
          <p:cNvSpPr/>
          <p:nvPr/>
        </p:nvSpPr>
        <p:spPr>
          <a:xfrm>
            <a:off x="9774936" y="3931920"/>
            <a:ext cx="256032" cy="914400"/>
          </a:xfrm>
          <a:prstGeom prst="rect">
            <a:avLst/>
          </a:prstGeom>
          <a:solidFill>
            <a:srgbClr val="17B8A6"/>
          </a:solidFill>
          <a:ln/>
        </p:spPr>
      </p:sp>
      <p:sp>
        <p:nvSpPr>
          <p:cNvPr id="23" name="Shape 20"/>
          <p:cNvSpPr/>
          <p:nvPr/>
        </p:nvSpPr>
        <p:spPr>
          <a:xfrm>
            <a:off x="10085832" y="4434840"/>
            <a:ext cx="256032" cy="411480"/>
          </a:xfrm>
          <a:prstGeom prst="rect">
            <a:avLst/>
          </a:prstGeom>
          <a:solidFill>
            <a:srgbClr val="17B8A6"/>
          </a:solidFill>
          <a:ln/>
        </p:spPr>
      </p:sp>
      <p:sp>
        <p:nvSpPr>
          <p:cNvPr id="24" name="Shape 21"/>
          <p:cNvSpPr/>
          <p:nvPr/>
        </p:nvSpPr>
        <p:spPr>
          <a:xfrm>
            <a:off x="10396728" y="3749040"/>
            <a:ext cx="256032" cy="109728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5" name="Shape 22"/>
          <p:cNvSpPr/>
          <p:nvPr/>
        </p:nvSpPr>
        <p:spPr>
          <a:xfrm>
            <a:off x="10707624" y="4343400"/>
            <a:ext cx="256032" cy="502920"/>
          </a:xfrm>
          <a:prstGeom prst="rect">
            <a:avLst/>
          </a:prstGeom>
          <a:solidFill>
            <a:srgbClr val="17B8A6"/>
          </a:solidFill>
          <a:ln/>
        </p:spPr>
      </p:sp>
      <p:sp>
        <p:nvSpPr>
          <p:cNvPr id="26" name="Text 23"/>
          <p:cNvSpPr/>
          <p:nvPr/>
        </p:nvSpPr>
        <p:spPr>
          <a:xfrm>
            <a:off x="7406640" y="4846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C7D3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positional data stream, verified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C7D3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every welding cycle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B8A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MONITORING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Data Verification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 monitoring is a repeatable, verifiable process — closer to a QA pipeline than a mechanical task.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60424" y="2834640"/>
            <a:ext cx="9070848" cy="0"/>
          </a:xfrm>
          <a:prstGeom prst="line">
            <a:avLst/>
          </a:prstGeom>
          <a:noFill/>
          <a:ln w="25400">
            <a:solidFill>
              <a:srgbClr val="D5DCE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103224" y="2286000"/>
            <a:ext cx="914400" cy="9144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" name="Image 0" descr="/home/claude/ppt/icon_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2680" y="250545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4584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Observe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0304" y="37033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sensor status live via monitoring displays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54584" y="2286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370936" y="2286000"/>
            <a:ext cx="914400" cy="9144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" name="Image 1" descr="/home/claude/ppt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392" y="250545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22296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Verify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68016" y="37033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PLC receives &amp; correctly interprets signal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822296" y="2286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2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5638648" y="228600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/home/claude/ppt/icon_triangleExcla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250545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0008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Flag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135728" y="37033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Auto-stop &amp; alert on missing / abnormal signal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090008" y="2286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3</a:t>
            </a:r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7906360" y="2286000"/>
            <a:ext cx="914400" cy="9144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2" name="Image 3" descr="/home/claude/ppt/icon_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5816" y="2505456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57720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403440" y="37033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fault event as structured data for review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357720" y="2286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4</a:t>
            </a:r>
            <a:endParaRPr lang="en-US" dirty="0"/>
          </a:p>
        </p:txBody>
      </p:sp>
      <p:sp>
        <p:nvSpPr>
          <p:cNvPr id="26" name="Shape 20"/>
          <p:cNvSpPr/>
          <p:nvPr/>
        </p:nvSpPr>
        <p:spPr>
          <a:xfrm>
            <a:off x="10174072" y="2286000"/>
            <a:ext cx="914400" cy="9144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7" name="Image 4" descr="/home/claude/ppt/icon_wren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3528" y="2505456"/>
            <a:ext cx="475488" cy="4754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25432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Resolve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671152" y="37033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Engineers correct issue; system re-verified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9625432" y="2286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5</a:t>
            </a:r>
            <a:endParaRPr lang="en-US" dirty="0"/>
          </a:p>
        </p:txBody>
      </p:sp>
      <p:sp>
        <p:nvSpPr>
          <p:cNvPr id="31" name="Shape 24"/>
          <p:cNvSpPr/>
          <p:nvPr/>
        </p:nvSpPr>
        <p:spPr>
          <a:xfrm>
            <a:off x="1816456" y="221284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1816456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084168" y="221284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084168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351880" y="221284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351880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8619592" y="221284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8619592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10887304" y="221284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10887304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B8A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FAULT DATA CLASSIFICATION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Errors as a Structured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Recurring faults observed on the MQ4i line, grouped as categories a fault-classification model would use: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48840"/>
            <a:ext cx="2606040" cy="109728"/>
          </a:xfrm>
          <a:prstGeom prst="rect">
            <a:avLst/>
          </a:prstGeom>
          <a:solidFill>
            <a:srgbClr val="17B8A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Sensor-Layer Faults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255264"/>
            <a:ext cx="82296" cy="8229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31089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Zig sensor detection failure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941064"/>
            <a:ext cx="82296" cy="8229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37947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Robot waiting for sensor signal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47288" y="21488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447288" y="2148840"/>
            <a:ext cx="2606040" cy="10972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3630168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Communication Faults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30168" y="325526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3831336" y="31089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PLC communication delay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30168" y="394106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3831336" y="37947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Robot communication failure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54496" y="21488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54496" y="2148840"/>
            <a:ext cx="2606040" cy="109728"/>
          </a:xfrm>
          <a:prstGeom prst="rect">
            <a:avLst/>
          </a:prstGeom>
          <a:solidFill>
            <a:srgbClr val="8B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6437376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Physical / Position Faults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37376" y="3255264"/>
            <a:ext cx="82296" cy="82296"/>
          </a:xfrm>
          <a:prstGeom prst="ellipse">
            <a:avLst/>
          </a:prstGeom>
          <a:solidFill>
            <a:srgbClr val="8B6FE0"/>
          </a:solidFill>
          <a:ln/>
        </p:spPr>
      </p:sp>
      <p:sp>
        <p:nvSpPr>
          <p:cNvPr id="23" name="Text 21"/>
          <p:cNvSpPr/>
          <p:nvPr/>
        </p:nvSpPr>
        <p:spPr>
          <a:xfrm>
            <a:off x="6638544" y="31089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 misalignment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37376" y="3941064"/>
            <a:ext cx="82296" cy="82296"/>
          </a:xfrm>
          <a:prstGeom prst="ellipse">
            <a:avLst/>
          </a:prstGeom>
          <a:solidFill>
            <a:srgbClr val="8B6FE0"/>
          </a:solidFill>
          <a:ln/>
        </p:spPr>
      </p:sp>
      <p:sp>
        <p:nvSpPr>
          <p:cNvPr id="25" name="Text 23"/>
          <p:cNvSpPr/>
          <p:nvPr/>
        </p:nvSpPr>
        <p:spPr>
          <a:xfrm>
            <a:off x="6638544" y="37947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Robot position error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61704" y="21488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5F7FA"/>
          </a:solidFill>
          <a:ln/>
        </p:spPr>
      </p:sp>
      <p:sp>
        <p:nvSpPr>
          <p:cNvPr id="27" name="Shape 25"/>
          <p:cNvSpPr/>
          <p:nvPr/>
        </p:nvSpPr>
        <p:spPr>
          <a:xfrm>
            <a:off x="9061704" y="2148840"/>
            <a:ext cx="2606040" cy="109728"/>
          </a:xfrm>
          <a:prstGeom prst="rect">
            <a:avLst/>
          </a:prstGeom>
          <a:solidFill>
            <a:srgbClr val="E0596F"/>
          </a:solidFill>
          <a:ln/>
        </p:spPr>
      </p:sp>
      <p:sp>
        <p:nvSpPr>
          <p:cNvPr id="28" name="Text 26"/>
          <p:cNvSpPr/>
          <p:nvPr/>
        </p:nvSpPr>
        <p:spPr>
          <a:xfrm>
            <a:off x="9244584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System / Safety Faults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244584" y="3255264"/>
            <a:ext cx="82296" cy="82296"/>
          </a:xfrm>
          <a:prstGeom prst="ellipse">
            <a:avLst/>
          </a:prstGeom>
          <a:solidFill>
            <a:srgbClr val="E0596F"/>
          </a:solidFill>
          <a:ln/>
        </p:spPr>
      </p:sp>
      <p:sp>
        <p:nvSpPr>
          <p:cNvPr id="30" name="Text 28"/>
          <p:cNvSpPr/>
          <p:nvPr/>
        </p:nvSpPr>
        <p:spPr>
          <a:xfrm>
            <a:off x="9445752" y="31089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Conveyor synchronization error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244584" y="3941064"/>
            <a:ext cx="82296" cy="82296"/>
          </a:xfrm>
          <a:prstGeom prst="ellipse">
            <a:avLst/>
          </a:prstGeom>
          <a:solidFill>
            <a:srgbClr val="E0596F"/>
          </a:solidFill>
          <a:ln/>
        </p:spPr>
      </p:sp>
      <p:sp>
        <p:nvSpPr>
          <p:cNvPr id="32" name="Text 30"/>
          <p:cNvSpPr/>
          <p:nvPr/>
        </p:nvSpPr>
        <p:spPr>
          <a:xfrm>
            <a:off x="9445752" y="37947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gate interlock activation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244584" y="4626864"/>
            <a:ext cx="82296" cy="82296"/>
          </a:xfrm>
          <a:prstGeom prst="ellipse">
            <a:avLst/>
          </a:prstGeom>
          <a:solidFill>
            <a:srgbClr val="E0596F"/>
          </a:solidFill>
          <a:ln/>
        </p:spPr>
      </p:sp>
      <p:sp>
        <p:nvSpPr>
          <p:cNvPr id="34" name="Text 32"/>
          <p:cNvSpPr/>
          <p:nvPr/>
        </p:nvSpPr>
        <p:spPr>
          <a:xfrm>
            <a:off x="9445752" y="4480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stop activation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DIAGNOSTIC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Troubleshooting Follows a Decision Tree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3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Engineers resolve faults through a repeatable, logical sequence — the same structure used in software debugging.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2331720"/>
            <a:ext cx="640080" cy="640080"/>
          </a:xfrm>
          <a:prstGeom prst="ellipse">
            <a:avLst/>
          </a:prstGeom>
          <a:solidFill>
            <a:srgbClr val="142B4F"/>
          </a:solidFill>
          <a:ln/>
        </p:spPr>
      </p:sp>
      <p:pic>
        <p:nvPicPr>
          <p:cNvPr id="6" name="Image 0" descr="/home/claude/ppt/icon_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899" y="2485339"/>
            <a:ext cx="332842" cy="3328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965960" y="237744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142B4F"/>
          </a:solidFill>
          <a:ln w="12700">
            <a:solidFill>
              <a:srgbClr val="2A42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48840" y="23774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HMI raises error message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53312" y="2953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97280" y="3172968"/>
            <a:ext cx="640080" cy="640080"/>
          </a:xfrm>
          <a:prstGeom prst="ellipse">
            <a:avLst/>
          </a:prstGeom>
          <a:solidFill>
            <a:srgbClr val="142B4F"/>
          </a:solidFill>
          <a:ln/>
        </p:spPr>
      </p:sp>
      <p:pic>
        <p:nvPicPr>
          <p:cNvPr id="11" name="Image 1" descr="/home/claude/ppt/icon_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99" y="3326587"/>
            <a:ext cx="332842" cy="33284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965960" y="3218688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142B4F"/>
          </a:solidFill>
          <a:ln w="12700">
            <a:solidFill>
              <a:srgbClr val="2A425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148840" y="321868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affected robot / sensor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353312" y="3794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097280" y="4014216"/>
            <a:ext cx="640080" cy="640080"/>
          </a:xfrm>
          <a:prstGeom prst="ellipse">
            <a:avLst/>
          </a:prstGeom>
          <a:solidFill>
            <a:srgbClr val="142B4F"/>
          </a:solidFill>
          <a:ln/>
        </p:spPr>
      </p:sp>
      <p:pic>
        <p:nvPicPr>
          <p:cNvPr id="16" name="Image 2" descr="/home/claude/ppt/icon_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899" y="4167835"/>
            <a:ext cx="332842" cy="33284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965960" y="4059936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142B4F"/>
          </a:solidFill>
          <a:ln w="12700">
            <a:solidFill>
              <a:srgbClr val="2A425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148840" y="405993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signal &amp; PLC communication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53312" y="46360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1097280" y="4855464"/>
            <a:ext cx="640080" cy="640080"/>
          </a:xfrm>
          <a:prstGeom prst="ellipse">
            <a:avLst/>
          </a:prstGeom>
          <a:solidFill>
            <a:srgbClr val="142B4F"/>
          </a:solidFill>
          <a:ln/>
        </p:spPr>
      </p:sp>
      <p:pic>
        <p:nvPicPr>
          <p:cNvPr id="21" name="Image 3" descr="/home/claude/ppt/icon_wre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899" y="5009083"/>
            <a:ext cx="332842" cy="33284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965960" y="4901184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142B4F"/>
          </a:solidFill>
          <a:ln w="12700">
            <a:solidFill>
              <a:srgbClr val="2A425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148840" y="490118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fix: reset, recalibrate, or replace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353312" y="54772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1097280" y="5696712"/>
            <a:ext cx="640080" cy="64008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26" name="Image 4" descr="/home/claude/ppt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899" y="5850331"/>
            <a:ext cx="332842" cy="33284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1965960" y="5742432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142B4F"/>
          </a:solidFill>
          <a:ln w="12700">
            <a:solidFill>
              <a:srgbClr val="2A425F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2148840" y="574243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Trial run confirms resolution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B8A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RESULTS &amp;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Showed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Consistent, disciplined monitoring of sensor and PLC data translated directly into measurable production outcomes.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3100" y="2468880"/>
            <a:ext cx="822960" cy="82296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7" name="Image 0" descr="/home/claude/ppt/icon_arrow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0610" y="266639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Faster Detection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monitoring caught sensor/communication faults immediately, not after downstream defects appeared.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21488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92140" y="2468880"/>
            <a:ext cx="822960" cy="82296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2" name="Image 1" descr="/home/claude/ppt/icon_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650" y="266639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Reduced Downtime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63440" y="40233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troubleshooting shortened the time between fault flag and production restart.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41180" y="2468880"/>
            <a:ext cx="822960" cy="82296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7" name="Image 2" descr="/home/claude/ppt/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690" y="266639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Higher Data Reliability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12480" y="40233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Clean, well-aligned sensor signals meant fewer false stops and more trustworthy PLC decisions.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B8A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SKILLS GAINED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&amp; Analytical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87452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/home/claude/ppt/icon_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73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65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Data &amp; Systems Skills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05840" y="2862072"/>
            <a:ext cx="109728" cy="109728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9" name="Text 6"/>
          <p:cNvSpPr/>
          <p:nvPr/>
        </p:nvSpPr>
        <p:spPr>
          <a:xfrm>
            <a:off x="1261872" y="2697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real-time sensor &amp; PLC data streams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005840" y="3429000"/>
            <a:ext cx="109728" cy="109728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1" name="Text 8"/>
          <p:cNvSpPr/>
          <p:nvPr/>
        </p:nvSpPr>
        <p:spPr>
          <a:xfrm>
            <a:off x="1261872" y="3264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Interpreting HMI diagnostic dashboards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05840" y="3995928"/>
            <a:ext cx="109728" cy="109728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1261872" y="383133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Classifying and logging fault-event data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005840" y="4562856"/>
            <a:ext cx="109728" cy="109728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5" name="Text 12"/>
          <p:cNvSpPr/>
          <p:nvPr/>
        </p:nvSpPr>
        <p:spPr>
          <a:xfrm>
            <a:off x="1261872" y="439826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IIoT signal architecture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005840" y="5129784"/>
            <a:ext cx="109728" cy="109728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7" name="Text 14"/>
          <p:cNvSpPr/>
          <p:nvPr/>
        </p:nvSpPr>
        <p:spPr>
          <a:xfrm>
            <a:off x="1261872" y="49651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Root-cause / troubleshooting logic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309360" y="160020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5F7FA"/>
          </a:solidFill>
          <a:ln/>
        </p:spPr>
      </p:sp>
      <p:sp>
        <p:nvSpPr>
          <p:cNvPr id="19" name="Shape 16"/>
          <p:cNvSpPr/>
          <p:nvPr/>
        </p:nvSpPr>
        <p:spPr>
          <a:xfrm>
            <a:off x="6629400" y="187452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0" name="Image 1" descr="/home/claude/ppt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019" y="2028139"/>
            <a:ext cx="332842" cy="33284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06640" y="1965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Professional Skills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675120" y="286207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19"/>
          <p:cNvSpPr/>
          <p:nvPr/>
        </p:nvSpPr>
        <p:spPr>
          <a:xfrm>
            <a:off x="6931152" y="2697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Cross-team technical communication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675120" y="342900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1"/>
          <p:cNvSpPr/>
          <p:nvPr/>
        </p:nvSpPr>
        <p:spPr>
          <a:xfrm>
            <a:off x="6931152" y="3264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Structured, analytical problem-solving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675120" y="3995928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3"/>
          <p:cNvSpPr/>
          <p:nvPr/>
        </p:nvSpPr>
        <p:spPr>
          <a:xfrm>
            <a:off x="6931152" y="383133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under industrial safety protocol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675120" y="456285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5"/>
          <p:cNvSpPr/>
          <p:nvPr/>
        </p:nvSpPr>
        <p:spPr>
          <a:xfrm>
            <a:off x="6931152" y="439826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Discipline in live-system observation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675120" y="512978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1" name="Text 27"/>
          <p:cNvSpPr/>
          <p:nvPr/>
        </p:nvSpPr>
        <p:spPr>
          <a:xfrm>
            <a:off x="6931152" y="49651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 with senior engineers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CSE &amp; Data Science Take This Next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3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natural evolution of this sensor/PLC monitoring work is squarely in the AI/ML and data engineering domain: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42B4F"/>
          </a:solidFill>
          <a:ln w="12700">
            <a:solidFill>
              <a:srgbClr val="2A42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7" name="Image 0" descr="/home/claude/ppt/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5548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Predictive Maintenance (ML)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1089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B9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models on historical fault data to predict failures before they occur.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89120" y="219456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42B4F"/>
          </a:solidFill>
          <a:ln w="12700">
            <a:solidFill>
              <a:srgbClr val="2A42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423160"/>
            <a:ext cx="548640" cy="54864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2" name="Image 1" descr="/home/claude/ppt/icon_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394" y="25548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Cloud-Connected Monitoring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17720" y="31089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B9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 sensor data to the cloud for centralized, cross-plant analytics.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38160" y="219456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42B4F"/>
          </a:solidFill>
          <a:ln w="12700">
            <a:solidFill>
              <a:srgbClr val="2A425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66760" y="2423160"/>
            <a:ext cx="548640" cy="54864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7" name="Image 2" descr="/home/claude/ppt/icon_layerGro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434" y="255483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Digital Twins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366760" y="31089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B9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 replicas of production lines driven by live sensor data feeds.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4279392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42B4F"/>
          </a:solidFill>
          <a:ln w="12700">
            <a:solidFill>
              <a:srgbClr val="2A425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4507992"/>
            <a:ext cx="548640" cy="54864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22" name="Image 3" descr="/home/claude/ppt/icon_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54" y="4639666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46227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Vision Inspection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68680" y="519379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B9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Computer-vision models for automated quality and weld inspection.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89120" y="4279392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42B4F"/>
          </a:solidFill>
          <a:ln w="12700">
            <a:solidFill>
              <a:srgbClr val="2A425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17720" y="4507992"/>
            <a:ext cx="548640" cy="54864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27" name="Image 4" descr="/home/claude/ppt/icon_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394" y="4639666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03520" y="446227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Real-Time Analytics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617720" y="519379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B9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Dashboards surfacing live KPIs from streaming production data.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138160" y="4279392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42B4F"/>
          </a:solidFill>
          <a:ln w="12700">
            <a:solidFill>
              <a:srgbClr val="2A425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66760" y="4507992"/>
            <a:ext cx="548640" cy="54864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32" name="Image 5" descr="/home/claude/ppt/icon_ge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8434" y="4639666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52560" y="446227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Autonomous Systems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8366760" y="519379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B9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Cobots and self-correcting systems driven by continuous data feedback.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1005840" cy="100584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4" name="Image 0" descr="/home/claude/ppt/icon_grad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802" y="1155802"/>
            <a:ext cx="523037" cy="523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25146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Sensors are Data.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Drives Decisions.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663440" y="1737360"/>
            <a:ext cx="6858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92040" y="1901952"/>
            <a:ext cx="128016" cy="12801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9" name="Text 6"/>
          <p:cNvSpPr/>
          <p:nvPr/>
        </p:nvSpPr>
        <p:spPr>
          <a:xfrm>
            <a:off x="5166360" y="187452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manufacturing runs on continuous sensor-to-decision data pipelines — the exact systems a CSE/Data Science graduate is trained to build and analyze.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3200400"/>
            <a:ext cx="6858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3364992"/>
            <a:ext cx="128016" cy="12801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2" name="Text 9"/>
          <p:cNvSpPr/>
          <p:nvPr/>
        </p:nvSpPr>
        <p:spPr>
          <a:xfrm>
            <a:off x="5166360" y="333756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internship connected classroom concepts — data flow, fault classification, real-time monitoring — to a live industrial setting.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4663440"/>
            <a:ext cx="6858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92040" y="4828032"/>
            <a:ext cx="128016" cy="12801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5" name="Text 12"/>
          <p:cNvSpPr/>
          <p:nvPr/>
        </p:nvSpPr>
        <p:spPr>
          <a:xfrm>
            <a:off x="5166360" y="480060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strengthened my interest in IIoT, predictive analytics, and intelligent systems as a career direction within data science.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3" name="Shape 1"/>
          <p:cNvSpPr/>
          <p:nvPr/>
        </p:nvSpPr>
        <p:spPr>
          <a:xfrm>
            <a:off x="173736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1" name="Shape 9"/>
          <p:cNvSpPr/>
          <p:nvPr/>
        </p:nvSpPr>
        <p:spPr>
          <a:xfrm>
            <a:off x="11247120" y="6126480"/>
            <a:ext cx="36576" cy="36576"/>
          </a:xfrm>
          <a:prstGeom prst="ellipse">
            <a:avLst/>
          </a:prstGeom>
          <a:solidFill>
            <a:srgbClr val="17B8A6"/>
          </a:solidFill>
          <a:ln/>
        </p:spPr>
      </p:sp>
      <p:sp>
        <p:nvSpPr>
          <p:cNvPr id="12" name="Shape 10"/>
          <p:cNvSpPr/>
          <p:nvPr/>
        </p:nvSpPr>
        <p:spPr>
          <a:xfrm>
            <a:off x="5547208" y="1417320"/>
            <a:ext cx="1097280" cy="1097280"/>
          </a:xfrm>
          <a:prstGeom prst="ellipse">
            <a:avLst/>
          </a:prstGeom>
          <a:solidFill>
            <a:srgbClr val="17B8A6"/>
          </a:solidFill>
          <a:ln/>
        </p:spPr>
      </p:sp>
      <p:pic>
        <p:nvPicPr>
          <p:cNvPr id="13" name="Image 0" descr="/home/claude/ppt/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0555" y="1680667"/>
            <a:ext cx="570586" cy="57058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0" y="278892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B3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998568" y="4343400"/>
            <a:ext cx="2194560" cy="0"/>
          </a:xfrm>
          <a:prstGeom prst="line">
            <a:avLst/>
          </a:prstGeom>
          <a:noFill/>
          <a:ln w="12700">
            <a:solidFill>
              <a:srgbClr val="3A517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0" y="46177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Muthirevula Tharun Reddy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0" y="4983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AB9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24691A32S8  |  CSE (Data Science)  |  Madanapalle Institute of Technology &amp; Science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2026-07-27T01:48:41Z</dcterms:created>
  <dcterms:modified xsi:type="dcterms:W3CDTF">2026-07-27T01:48:41Z</dcterms:modified>
</cp:coreProperties>
</file>